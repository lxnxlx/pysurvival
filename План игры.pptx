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oleObject" PartName="/ppt/embeddings/oleObject9.bin"/>
  <Override ContentType="application/vnd.openxmlformats-officedocument.oleObject" PartName="/ppt/embeddings/oleObject3.bin"/>
  <Override ContentType="application/vnd.openxmlformats-officedocument.oleObject" PartName="/ppt/embeddings/oleObject6.bin"/>
  <Override ContentType="application/vnd.openxmlformats-officedocument.oleObject" PartName="/ppt/embeddings/oleObject5.bin"/>
  <Override ContentType="application/vnd.openxmlformats-officedocument.oleObject" PartName="/ppt/embeddings/oleObject4.bin"/>
  <Override ContentType="application/vnd.openxmlformats-officedocument.oleObject" PartName="/ppt/embeddings/oleObject7.bin"/>
  <Override ContentType="application/vnd.openxmlformats-officedocument.oleObject" PartName="/ppt/embeddings/oleObject2.bin"/>
  <Override ContentType="application/vnd.openxmlformats-officedocument.oleObject" PartName="/ppt/embeddings/oleObject10.bin"/>
  <Override ContentType="application/vnd.openxmlformats-officedocument.oleObject" PartName="/ppt/embeddings/oleObject1.bin"/>
  <Override ContentType="application/vnd.openxmlformats-officedocument.oleObject" PartName="/ppt/embeddings/oleObject8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vn5DezhHbN35rrLcup2spE2vu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4.v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5.v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6.v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7.v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8.v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9.v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0.v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1.jpg"/><Relationship Id="rId5" Type="http://schemas.openxmlformats.org/officeDocument/2006/relationships/image" Target="../media/image4.jpg"/><Relationship Id="rId6" Type="http://schemas.openxmlformats.org/officeDocument/2006/relationships/oleObject" Target="../embeddings/oleObject1.bin"/><Relationship Id="rId7" Type="http://schemas.openxmlformats.org/officeDocument/2006/relationships/oleObject" Target="../embeddings/oleObject1.bin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2.bin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3.bin"/><Relationship Id="rId5" Type="http://schemas.openxmlformats.org/officeDocument/2006/relationships/oleObject" Target="../embeddings/oleObject3.bin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vmlDrawing" Target="../drawings/vmlDrawing4.vml"/><Relationship Id="rId4" Type="http://schemas.openxmlformats.org/officeDocument/2006/relationships/oleObject" Target="../embeddings/oleObject4.bin"/><Relationship Id="rId5" Type="http://schemas.openxmlformats.org/officeDocument/2006/relationships/oleObject" Target="../embeddings/oleObject4.bin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vmlDrawing" Target="../drawings/vmlDrawing5.vml"/><Relationship Id="rId4" Type="http://schemas.openxmlformats.org/officeDocument/2006/relationships/oleObject" Target="../embeddings/oleObject5.bin"/><Relationship Id="rId5" Type="http://schemas.openxmlformats.org/officeDocument/2006/relationships/oleObject" Target="../embeddings/oleObject5.bin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vmlDrawing" Target="../drawings/vmlDrawing6.vml"/><Relationship Id="rId4" Type="http://schemas.openxmlformats.org/officeDocument/2006/relationships/oleObject" Target="../embeddings/oleObject6.bin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vmlDrawing" Target="../drawings/vmlDrawing7.vml"/><Relationship Id="rId4" Type="http://schemas.openxmlformats.org/officeDocument/2006/relationships/oleObject" Target="../embeddings/oleObject7.bin"/><Relationship Id="rId5" Type="http://schemas.openxmlformats.org/officeDocument/2006/relationships/oleObject" Target="../embeddings/oleObject7.bin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vmlDrawing" Target="../drawings/vmlDrawing8.vml"/><Relationship Id="rId4" Type="http://schemas.openxmlformats.org/officeDocument/2006/relationships/oleObject" Target="../embeddings/oleObject8.bin"/><Relationship Id="rId5" Type="http://schemas.openxmlformats.org/officeDocument/2006/relationships/oleObject" Target="../embeddings/oleObject8.bin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vmlDrawing" Target="../drawings/vmlDrawing9.vml"/><Relationship Id="rId4" Type="http://schemas.openxmlformats.org/officeDocument/2006/relationships/oleObject" Target="../embeddings/oleObject9.bin"/><Relationship Id="rId5" Type="http://schemas.openxmlformats.org/officeDocument/2006/relationships/oleObject" Target="../embeddings/oleObject9.bin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vmlDrawing" Target="../drawings/vmlDrawing10.vml"/><Relationship Id="rId4" Type="http://schemas.openxmlformats.org/officeDocument/2006/relationships/oleObject" Target="../embeddings/oleObject10.bin"/><Relationship Id="rId5" Type="http://schemas.openxmlformats.org/officeDocument/2006/relationships/oleObject" Target="../embeddings/oleObject10.bin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4">
            <a:alphaModFix/>
          </a:blip>
          <a:srcRect b="0" l="42" r="1" t="0"/>
          <a:stretch/>
        </p:blipFill>
        <p:spPr>
          <a:xfrm>
            <a:off x="0" y="0"/>
            <a:ext cx="1214921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5">
            <a:alphaModFix/>
          </a:blip>
          <a:srcRect b="12632" l="9884" r="3901" t="12302"/>
          <a:stretch/>
        </p:blipFill>
        <p:spPr>
          <a:xfrm>
            <a:off x="3440414" y="393929"/>
            <a:ext cx="2229493" cy="130101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6" name="Google Shape;86;p1"/>
          <p:cNvGraphicFramePr/>
          <p:nvPr/>
        </p:nvGraphicFramePr>
        <p:xfrm>
          <a:off x="10103851" y="440000"/>
          <a:ext cx="1145277" cy="502790"/>
        </p:xfrm>
        <a:graphic>
          <a:graphicData uri="http://schemas.openxmlformats.org/presentationml/2006/ole">
            <mc:AlternateContent>
              <mc:Choice Requires="v">
                <p:oleObj r:id="rId6" imgH="502790" imgW="1145277" progId="CorelDraw.Graphic.22" spid="_x0000_s1">
                  <p:embed/>
                </p:oleObj>
              </mc:Choice>
              <mc:Fallback>
                <p:oleObj r:id="rId7" imgH="502790" imgW="1145277" progId="CorelDraw.Graphic.22">
                  <p:embed/>
                  <p:pic>
                    <p:nvPicPr>
                      <p:cNvPr id="86" name="Google Shape;86;p1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0103851" y="440000"/>
                        <a:ext cx="1145277" cy="5027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Google Shape;87;p1"/>
          <p:cNvSpPr txBox="1"/>
          <p:nvPr/>
        </p:nvSpPr>
        <p:spPr>
          <a:xfrm>
            <a:off x="3440414" y="2346106"/>
            <a:ext cx="7488832" cy="2331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3700">
                <a:solidFill>
                  <a:srgbClr val="0070C0"/>
                </a:solidFill>
              </a:rPr>
              <a:t>PySurvival: Zombie Waves</a:t>
            </a:r>
            <a:endParaRPr b="1" sz="3700">
              <a:solidFill>
                <a:srgbClr val="0070C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700">
              <a:solidFill>
                <a:srgbClr val="0070C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400"/>
              <a:buFont typeface="Arial"/>
              <a:buNone/>
            </a:pPr>
            <a:r>
              <a:t/>
            </a:r>
            <a:endParaRPr b="1" sz="3700">
              <a:solidFill>
                <a:srgbClr val="0070C0"/>
              </a:solidFill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3499408" y="4798350"/>
            <a:ext cx="4960500" cy="20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Выполнил: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200">
                <a:solidFill>
                  <a:schemeClr val="dk1"/>
                </a:solidFill>
              </a:rPr>
              <a:t>Овчинников Максим Юрьевич</a:t>
            </a:r>
            <a:endParaRPr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Группа </a:t>
            </a:r>
            <a:r>
              <a:rPr b="1" lang="ru-RU" sz="2600">
                <a:solidFill>
                  <a:schemeClr val="dk1"/>
                </a:solidFill>
              </a:rPr>
              <a:t>РИ-150911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Преподаватель: </a:t>
            </a:r>
            <a:r>
              <a:rPr lang="ru-RU" sz="1900">
                <a:solidFill>
                  <a:schemeClr val="dk1"/>
                </a:solidFill>
              </a:rPr>
              <a:t>Царегородцев Г.П.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" name="Google Shape;93;p2"/>
          <p:cNvGraphicFramePr/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>
              <mc:Choice Requires="v">
                <p:oleObj r:id="rId4" imgH="446617" imgW="1282735" progId="CorelDraw.Graphic.22" spid="_x0000_s1">
                  <p:embed/>
                </p:oleObj>
              </mc:Choice>
              <mc:Fallback>
                <p:oleObj r:id="rId5" imgH="446617" imgW="1282735" progId="CorelDraw.Graphic.22">
                  <p:embed/>
                  <p:pic>
                    <p:nvPicPr>
                      <p:cNvPr id="93" name="Google Shape;93;p2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" name="Google Shape;94;p2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795" y="228173"/>
            <a:ext cx="917722" cy="43496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 txBox="1"/>
          <p:nvPr>
            <p:ph type="title"/>
          </p:nvPr>
        </p:nvSpPr>
        <p:spPr>
          <a:xfrm>
            <a:off x="1571517" y="76567"/>
            <a:ext cx="9111712" cy="83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Основная идея</a:t>
            </a:r>
            <a:endParaRPr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1056983" y="134293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Жанр: 2D шутер с видом сверху.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Игрок: Выживший стрелок, пытающийся выбраться из лабратории.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Цель: Пройти 2 уровня, найти портал который перемещает игрока в бесконечный режим.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Описание: </a:t>
            </a:r>
            <a:r>
              <a:rPr lang="ru-RU"/>
              <a:t>Игрок исследует локацию, отстреливается от нарастающих волн зомби, Прогресс сохраняется локально, лучшие результаты фиксируются в таблице лидеров (аналог Alien shooter)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" name="Google Shape;102;p3"/>
          <p:cNvGraphicFramePr/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>
              <mc:Choice Requires="v">
                <p:oleObj r:id="rId4" imgH="446617" imgW="1282735" progId="CorelDraw.Graphic.22" spid="_x0000_s1">
                  <p:embed/>
                </p:oleObj>
              </mc:Choice>
              <mc:Fallback>
                <p:oleObj r:id="rId5" imgH="446617" imgW="1282735" progId="CorelDraw.Graphic.22">
                  <p:embed/>
                  <p:pic>
                    <p:nvPicPr>
                      <p:cNvPr id="102" name="Google Shape;102;p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Google Shape;103;p3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795" y="228173"/>
            <a:ext cx="917722" cy="43496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 txBox="1"/>
          <p:nvPr>
            <p:ph type="title"/>
          </p:nvPr>
        </p:nvSpPr>
        <p:spPr>
          <a:xfrm>
            <a:off x="1571517" y="76567"/>
            <a:ext cx="9111712" cy="83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Игровые механики</a:t>
            </a:r>
            <a:endParaRPr/>
          </a:p>
        </p:txBody>
      </p:sp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1056983" y="134293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0193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Продолжение прошлого слайда. Описываете основные игровые фичи/механики, которые реализуете в проекте.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0193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Передвижение: WASD, ограничено границами карты, есть непроходимые объекты(стены, ящики и т.д).</a:t>
            </a:r>
            <a:endParaRPr/>
          </a:p>
          <a:p>
            <a:pPr indent="-20193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Переход: Дверь для перехода с 1 на 2 лвл, портал для перехода в бесконечный режим.</a:t>
            </a:r>
            <a:endParaRPr/>
          </a:p>
          <a:p>
            <a:pPr indent="-20193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Враги: Агрессивно настроены к игроку, сразу начинают атаковать</a:t>
            </a:r>
            <a:endParaRPr/>
          </a:p>
          <a:p>
            <a:pPr indent="-20193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Интерфейс: здоровье, кол-во патрон, очки.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" name="Google Shape;111;p4"/>
          <p:cNvGraphicFramePr/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>
              <mc:Choice Requires="v">
                <p:oleObj r:id="rId4" imgH="446617" imgW="1282735" progId="CorelDraw.Graphic.22" spid="_x0000_s1">
                  <p:embed/>
                </p:oleObj>
              </mc:Choice>
              <mc:Fallback>
                <p:oleObj r:id="rId5" imgH="446617" imgW="1282735" progId="CorelDraw.Graphic.22">
                  <p:embed/>
                  <p:pic>
                    <p:nvPicPr>
                      <p:cNvPr id="111" name="Google Shape;111;p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" name="Google Shape;112;p4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795" y="228173"/>
            <a:ext cx="917722" cy="43496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 txBox="1"/>
          <p:nvPr>
            <p:ph type="title"/>
          </p:nvPr>
        </p:nvSpPr>
        <p:spPr>
          <a:xfrm>
            <a:off x="1571517" y="76567"/>
            <a:ext cx="9111712" cy="83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Требования</a:t>
            </a:r>
            <a:endParaRPr/>
          </a:p>
        </p:txBody>
      </p:sp>
      <p:sp>
        <p:nvSpPr>
          <p:cNvPr id="115" name="Google Shape;115;p4"/>
          <p:cNvSpPr txBox="1"/>
          <p:nvPr>
            <p:ph idx="1" type="body"/>
          </p:nvPr>
        </p:nvSpPr>
        <p:spPr>
          <a:xfrm>
            <a:off x="1056983" y="134293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10000"/>
          </a:bodyPr>
          <a:lstStyle/>
          <a:p>
            <a:pPr indent="-213144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sz="3767"/>
              <a:t>Измеримые критерии для самостоятельной оценки «успешности» проекта</a:t>
            </a:r>
            <a:endParaRPr sz="3767"/>
          </a:p>
          <a:p>
            <a:pPr indent="-1174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4339"/>
              <a:buNone/>
            </a:pPr>
            <a:r>
              <a:t/>
            </a:r>
            <a:endParaRPr sz="3767"/>
          </a:p>
          <a:p>
            <a:pPr indent="-21314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sz="3767"/>
              <a:t>Примеры требований:</a:t>
            </a:r>
            <a:endParaRPr sz="3767"/>
          </a:p>
          <a:p>
            <a:pPr indent="-21885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sz="3367"/>
              <a:t>Примеры ситуаций, где реализованные алгоритмы/механики должны работать корректно</a:t>
            </a:r>
            <a:endParaRPr sz="3367"/>
          </a:p>
          <a:p>
            <a:pPr indent="-184569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93258"/>
              <a:buChar char="•"/>
            </a:pPr>
            <a:r>
              <a:rPr lang="ru-RU" sz="2967"/>
              <a:t>меню содержит: Начать, Продолжить, Таблица рекордов</a:t>
            </a:r>
            <a:endParaRPr sz="2967"/>
          </a:p>
          <a:p>
            <a:pPr indent="-184569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93258"/>
              <a:buChar char="•"/>
            </a:pPr>
            <a:r>
              <a:rPr lang="ru-RU" sz="2967"/>
              <a:t>Сохраняются данные об игре в файле JSON</a:t>
            </a:r>
            <a:endParaRPr sz="2967"/>
          </a:p>
          <a:p>
            <a:pPr indent="-21885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sz="3367"/>
              <a:t>Функциональные требования:</a:t>
            </a:r>
            <a:endParaRPr sz="3367"/>
          </a:p>
          <a:p>
            <a:pPr indent="-224574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sz="2967"/>
              <a:t>игрок проходит 2 уровня..</a:t>
            </a:r>
            <a:endParaRPr sz="2967"/>
          </a:p>
          <a:p>
            <a:pPr indent="-21885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sz="3367"/>
              <a:t>Технические требования:</a:t>
            </a:r>
            <a:endParaRPr sz="3367"/>
          </a:p>
          <a:p>
            <a:pPr indent="-224574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sz="2967"/>
              <a:t>FPS &gt;= 30 при 50 врагах и 100 предметах на экране, размер карты, число объектов,</a:t>
            </a:r>
            <a:endParaRPr sz="2967"/>
          </a:p>
          <a:p>
            <a:pPr indent="-224574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sz="2967"/>
              <a:t>Прогресс игры сохраняется и загружается из JSON-файла</a:t>
            </a:r>
            <a:endParaRPr sz="2967"/>
          </a:p>
          <a:p>
            <a:pPr indent="-224574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sz="2967"/>
              <a:t>Враг строит путь к игроку за &lt;= 50 мс на карте ?x? тайлов</a:t>
            </a:r>
            <a:endParaRPr sz="2967"/>
          </a:p>
          <a:p>
            <a:pPr indent="-21885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sz="3367"/>
              <a:t>Ограничения: что осознанно не включено в проект.</a:t>
            </a:r>
            <a:endParaRPr sz="3367"/>
          </a:p>
          <a:p>
            <a:pPr indent="-184569" lvl="2" marL="1143000" rtl="0" algn="l">
              <a:spcBef>
                <a:spcPts val="500"/>
              </a:spcBef>
              <a:spcAft>
                <a:spcPts val="0"/>
              </a:spcAft>
              <a:buSzPct val="82177"/>
              <a:buChar char="•"/>
            </a:pPr>
            <a:r>
              <a:rPr lang="ru-RU" sz="3367"/>
              <a:t>Разнообразие оружия и врагов.</a:t>
            </a:r>
            <a:endParaRPr sz="2967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174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74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" name="Google Shape;120;p5"/>
          <p:cNvGraphicFramePr/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>
              <mc:Choice Requires="v">
                <p:oleObj r:id="rId4" imgH="446617" imgW="1282735" progId="CorelDraw.Graphic.22" spid="_x0000_s1">
                  <p:embed/>
                </p:oleObj>
              </mc:Choice>
              <mc:Fallback>
                <p:oleObj r:id="rId5" imgH="446617" imgW="1282735" progId="CorelDraw.Graphic.22">
                  <p:embed/>
                  <p:pic>
                    <p:nvPicPr>
                      <p:cNvPr id="120" name="Google Shape;120;p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" name="Google Shape;121;p5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795" y="228173"/>
            <a:ext cx="917722" cy="43496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 txBox="1"/>
          <p:nvPr>
            <p:ph type="title"/>
          </p:nvPr>
        </p:nvSpPr>
        <p:spPr>
          <a:xfrm>
            <a:off x="1571517" y="76567"/>
            <a:ext cx="9111712" cy="83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Архитектура проекта. Общий обзор</a:t>
            </a:r>
            <a:endParaRPr/>
          </a:p>
        </p:txBody>
      </p:sp>
      <p:sp>
        <p:nvSpPr>
          <p:cNvPr id="124" name="Google Shape;124;p5"/>
          <p:cNvSpPr txBox="1"/>
          <p:nvPr>
            <p:ph idx="1" type="body"/>
          </p:nvPr>
        </p:nvSpPr>
        <p:spPr>
          <a:xfrm>
            <a:off x="1056983" y="134293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1907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sz="2000"/>
              <a:t>Тип архитектуры: Компонентно-менеджерная архитектура с разделением по состояниям (Game State Manager). Выбрана вместо чистой ООП  для простоты реализации в Pygame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/>
          </a:p>
          <a:p>
            <a:pPr indent="-2190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sz="2000"/>
              <a:t>Что можно тут показать:</a:t>
            </a:r>
            <a:endParaRPr/>
          </a:p>
          <a:p>
            <a:pPr indent="-22098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sz="1600"/>
              <a:t>Ключевые компоненты: GameLoop, StateManager, EntityManager, CollisionManager, Pathfinder, UISystem, SaveSystem</a:t>
            </a:r>
            <a:endParaRPr/>
          </a:p>
          <a:p>
            <a:pPr indent="-22098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sz="1600"/>
              <a:t>StateManager: переключение между меню, игрой, паузой, экраном рекордов. </a:t>
            </a:r>
            <a:endParaRPr sz="1600"/>
          </a:p>
          <a:p>
            <a:pPr indent="-22098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sz="1600"/>
              <a:t>EntityManager: хранение, обновление координат, состояния и удаление сущностей. </a:t>
            </a:r>
            <a:endParaRPr sz="1600"/>
          </a:p>
          <a:p>
            <a:pPr indent="-22098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sz="1600"/>
              <a:t>CollisionManager: расчёт пересечений, генерация событий. </a:t>
            </a:r>
            <a:endParaRPr sz="1600"/>
          </a:p>
          <a:p>
            <a:pPr indent="-22098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sz="1600"/>
              <a:t>SaveSystem: Сохранение  данных в JSON.</a:t>
            </a:r>
            <a:endParaRPr sz="1600"/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/>
          </a:p>
          <a:p>
            <a:pPr indent="-2190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sz="2000"/>
              <a:t>Почему эта архитектура удобна именно для вашей игры?</a:t>
            </a:r>
            <a:endParaRPr sz="2000"/>
          </a:p>
          <a:p>
            <a:pPr indent="-231775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ru-RU" sz="2000"/>
              <a:t>Позволяет изолировать логику волн, физику и UI, упрощает тестирование отдельных модулей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Google Shape;129;p6"/>
          <p:cNvGraphicFramePr/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>
              <mc:Choice Requires="v">
                <p:oleObj r:id="rId4" imgH="446617" imgW="1282735" progId="CorelDraw.Graphic.22" spid="_x0000_s1">
                  <p:embed/>
                </p:oleObj>
              </mc:Choice>
              <mc:Fallback>
                <p:oleObj r:id="rId5" imgH="446617" imgW="1282735" progId="CorelDraw.Graphic.22">
                  <p:embed/>
                  <p:pic>
                    <p:nvPicPr>
                      <p:cNvPr id="129" name="Google Shape;129;p6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" name="Google Shape;130;p6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795" y="228173"/>
            <a:ext cx="917722" cy="43496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 txBox="1"/>
          <p:nvPr>
            <p:ph type="title"/>
          </p:nvPr>
        </p:nvSpPr>
        <p:spPr>
          <a:xfrm>
            <a:off x="1571517" y="76567"/>
            <a:ext cx="9111712" cy="83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Архитектура проекта</a:t>
            </a:r>
            <a:endParaRPr/>
          </a:p>
        </p:txBody>
      </p:sp>
      <p:sp>
        <p:nvSpPr>
          <p:cNvPr id="133" name="Google Shape;133;p6"/>
          <p:cNvSpPr txBox="1"/>
          <p:nvPr>
            <p:ph idx="1" type="body"/>
          </p:nvPr>
        </p:nvSpPr>
        <p:spPr>
          <a:xfrm>
            <a:off x="1056983" y="134293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Диаграммы вашей архитектуры.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Структура папок: </a:t>
            </a:r>
            <a:r>
              <a:rPr lang="ru-RU"/>
              <a:t>src/ (main.py, core/, entities/, managers/, ui/), assets/ (img/, snd/, fonts/), data/ (levels/, saves/, scores.json), tests/.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Основные классы: Entity (базовый: pos, rect, hp, update(), draw()), Player(Entity), Zombie(Entity), Bullet(Entity), Key(Entity), Level, WaveManager, ScoreBoard.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Связи между модулями: импорт, события, общие интерфейсы.</a:t>
            </a:r>
            <a:endParaRPr/>
          </a:p>
          <a:p>
            <a:pPr indent="-240896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92143"/>
              <a:buChar char="•"/>
            </a:pPr>
            <a:r>
              <a:rPr lang="ru-RU" sz="2545"/>
              <a:t>Событийная шина на базе pygame.event и кастомных EventQueue. </a:t>
            </a:r>
            <a:endParaRPr sz="2545"/>
          </a:p>
          <a:p>
            <a:pPr indent="-240896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92143"/>
              <a:buChar char="•"/>
            </a:pPr>
            <a:r>
              <a:rPr lang="ru-RU" sz="2545"/>
              <a:t>Менеджеры запрашивают данные через геттеры, не меняют состояние напрямую. </a:t>
            </a:r>
            <a:endParaRPr sz="2545"/>
          </a:p>
          <a:p>
            <a:pPr indent="-240896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92143"/>
              <a:buChar char="•"/>
            </a:pPr>
            <a:r>
              <a:rPr lang="ru-RU" sz="2545"/>
              <a:t>Renderer опрашивает EntityManager для отрисовки. </a:t>
            </a:r>
            <a:endParaRPr sz="2545"/>
          </a:p>
          <a:p>
            <a:pPr indent="-240896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92143"/>
              <a:buChar char="•"/>
            </a:pPr>
            <a:r>
              <a:rPr lang="ru-RU" sz="2545"/>
              <a:t>InputHandler передаёт команды в GameLoop.</a:t>
            </a:r>
            <a:endParaRPr sz="2545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" name="Google Shape;138;p7"/>
          <p:cNvGraphicFramePr/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>
              <mc:Choice Requires="v">
                <p:oleObj r:id="rId4" imgH="446617" imgW="1282735" progId="CorelDraw.Graphic.22" spid="_x0000_s1">
                  <p:embed/>
                </p:oleObj>
              </mc:Choice>
              <mc:Fallback>
                <p:oleObj r:id="rId5" imgH="446617" imgW="1282735" progId="CorelDraw.Graphic.22">
                  <p:embed/>
                  <p:pic>
                    <p:nvPicPr>
                      <p:cNvPr id="138" name="Google Shape;138;p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" name="Google Shape;139;p7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795" y="228173"/>
            <a:ext cx="917722" cy="434968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 txBox="1"/>
          <p:nvPr>
            <p:ph type="title"/>
          </p:nvPr>
        </p:nvSpPr>
        <p:spPr>
          <a:xfrm>
            <a:off x="1571517" y="76567"/>
            <a:ext cx="9111712" cy="83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Алгоритмы</a:t>
            </a:r>
            <a:endParaRPr/>
          </a:p>
        </p:txBody>
      </p:sp>
      <p:sp>
        <p:nvSpPr>
          <p:cNvPr id="142" name="Google Shape;142;p7"/>
          <p:cNvSpPr txBox="1"/>
          <p:nvPr>
            <p:ph idx="1" type="body"/>
          </p:nvPr>
        </p:nvSpPr>
        <p:spPr>
          <a:xfrm>
            <a:off x="1056983" y="134293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3525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Первый алгоритм</a:t>
            </a:r>
            <a:endParaRPr/>
          </a:p>
          <a:p>
            <a:pPr indent="-151447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ru-RU"/>
              <a:t>А* Поиск пути врага к игроку</a:t>
            </a:r>
            <a:endParaRPr/>
          </a:p>
          <a:p>
            <a:pPr indent="-13525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Зачем в проекте? </a:t>
            </a:r>
            <a:endParaRPr/>
          </a:p>
          <a:p>
            <a:pPr indent="-151447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ru-RU"/>
              <a:t>Чтобы обходить стены или другие объекты</a:t>
            </a:r>
            <a:endParaRPr/>
          </a:p>
          <a:p>
            <a:pPr indent="-13525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Входные данные:</a:t>
            </a:r>
            <a:endParaRPr/>
          </a:p>
          <a:p>
            <a:pPr indent="-14859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Сетка карты (массив 0/1), стартовая точка зомби, цель (игрок), список непроходимых тайлов.</a:t>
            </a:r>
            <a:endParaRPr/>
          </a:p>
          <a:p>
            <a:pPr indent="-13525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Выходные данные: </a:t>
            </a:r>
            <a:endParaRPr/>
          </a:p>
          <a:p>
            <a:pPr indent="-14859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Очередь шагов (список координат) или вектор следующего движения</a:t>
            </a:r>
            <a:endParaRPr/>
          </a:p>
          <a:p>
            <a:pPr indent="-13525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Сложность по времени/памяти: </a:t>
            </a:r>
            <a:endParaRPr/>
          </a:p>
          <a:p>
            <a:pPr indent="-14859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Сложность: O(E log V) по времени, O(V) по памяти. Худший случай: открытая карта без препятствий.</a:t>
            </a:r>
            <a:endParaRPr/>
          </a:p>
          <a:p>
            <a:pPr indent="-13525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Фрагмент кода:</a:t>
            </a:r>
            <a:br>
              <a:rPr lang="ru-RU"/>
            </a:br>
            <a:br>
              <a:rPr lang="ru-RU"/>
            </a:b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9906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9906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43" name="Google Shape;143;p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94250" y="4063699"/>
            <a:ext cx="3904500" cy="207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8" name="Google Shape;148;p8"/>
          <p:cNvGraphicFramePr/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>
              <mc:Choice Requires="v">
                <p:oleObj r:id="rId4" imgH="446617" imgW="1282735" progId="CorelDraw.Graphic.22" spid="_x0000_s1">
                  <p:embed/>
                </p:oleObj>
              </mc:Choice>
              <mc:Fallback>
                <p:oleObj r:id="rId5" imgH="446617" imgW="1282735" progId="CorelDraw.Graphic.22">
                  <p:embed/>
                  <p:pic>
                    <p:nvPicPr>
                      <p:cNvPr id="148" name="Google Shape;148;p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" name="Google Shape;149;p8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795" y="228173"/>
            <a:ext cx="917722" cy="43496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 txBox="1"/>
          <p:nvPr>
            <p:ph type="title"/>
          </p:nvPr>
        </p:nvSpPr>
        <p:spPr>
          <a:xfrm>
            <a:off x="1571517" y="76567"/>
            <a:ext cx="9111712" cy="83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Алгоритмы</a:t>
            </a:r>
            <a:endParaRPr/>
          </a:p>
        </p:txBody>
      </p:sp>
      <p:sp>
        <p:nvSpPr>
          <p:cNvPr id="152" name="Google Shape;152;p8"/>
          <p:cNvSpPr txBox="1"/>
          <p:nvPr>
            <p:ph idx="1" type="body"/>
          </p:nvPr>
        </p:nvSpPr>
        <p:spPr>
          <a:xfrm>
            <a:off x="1056983" y="134293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3525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Второй алгоритм</a:t>
            </a:r>
            <a:endParaRPr/>
          </a:p>
          <a:p>
            <a:pPr indent="-151447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ru-RU"/>
              <a:t>AABB </a:t>
            </a:r>
            <a:endParaRPr/>
          </a:p>
          <a:p>
            <a:pPr indent="-13525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Зачем в проекте?</a:t>
            </a:r>
            <a:endParaRPr/>
          </a:p>
          <a:p>
            <a:pPr indent="-151447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ru-RU"/>
              <a:t>Фиксация попаданий пуль, урона игроку, блокировки движением стен</a:t>
            </a:r>
            <a:endParaRPr/>
          </a:p>
          <a:p>
            <a:pPr indent="-13525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Как реализован в проекте:</a:t>
            </a:r>
            <a:endParaRPr/>
          </a:p>
          <a:p>
            <a:pPr indent="-14859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Реализация: collision.py. Интегрирован в GameLoop после обновления позиций, до рендеринга.</a:t>
            </a:r>
            <a:endParaRPr/>
          </a:p>
          <a:p>
            <a:pPr indent="-13525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Входные данные:</a:t>
            </a:r>
            <a:endParaRPr/>
          </a:p>
          <a:p>
            <a:pPr indent="-14859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Входные данные: Списки rect объектов: игрок, враги, пули, стены.</a:t>
            </a:r>
            <a:endParaRPr/>
          </a:p>
          <a:p>
            <a:pPr indent="-13525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Выходные данные: </a:t>
            </a:r>
            <a:endParaRPr/>
          </a:p>
          <a:p>
            <a:pPr indent="-14859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Список пар столкнувшихся объектов, триггеры событий (on_damage, on_pickup, on_wall_hit).</a:t>
            </a:r>
            <a:endParaRPr/>
          </a:p>
          <a:p>
            <a:pPr indent="-13525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Сложность по времени/памяти: </a:t>
            </a:r>
            <a:endParaRPr/>
          </a:p>
          <a:p>
            <a:pPr indent="-14859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O(N^2), ограничения и худшие случаи.</a:t>
            </a:r>
            <a:endParaRPr/>
          </a:p>
          <a:p>
            <a:pPr indent="-13525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Фрагмент кода</a:t>
            </a:r>
            <a:r>
              <a:rPr lang="ru-RU"/>
              <a:t> 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9906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9906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53" name="Google Shape;153;p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92000" y="3973300"/>
            <a:ext cx="2547250" cy="165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8" name="Google Shape;158;p10"/>
          <p:cNvGraphicFramePr/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>
              <mc:Choice Requires="v">
                <p:oleObj r:id="rId4" imgH="446617" imgW="1282735" progId="CorelDraw.Graphic.22" spid="_x0000_s1">
                  <p:embed/>
                </p:oleObj>
              </mc:Choice>
              <mc:Fallback>
                <p:oleObj r:id="rId5" imgH="446617" imgW="1282735" progId="CorelDraw.Graphic.22">
                  <p:embed/>
                  <p:pic>
                    <p:nvPicPr>
                      <p:cNvPr id="158" name="Google Shape;158;p1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" name="Google Shape;159;p10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795" y="228173"/>
            <a:ext cx="917722" cy="43496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0"/>
          <p:cNvSpPr txBox="1"/>
          <p:nvPr>
            <p:ph type="title"/>
          </p:nvPr>
        </p:nvSpPr>
        <p:spPr>
          <a:xfrm>
            <a:off x="1571517" y="76567"/>
            <a:ext cx="9111712" cy="83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Тестирование	</a:t>
            </a:r>
            <a:endParaRPr/>
          </a:p>
        </p:txBody>
      </p:sp>
      <p:sp>
        <p:nvSpPr>
          <p:cNvPr id="162" name="Google Shape;162;p10"/>
          <p:cNvSpPr txBox="1"/>
          <p:nvPr>
            <p:ph idx="1" type="body"/>
          </p:nvPr>
        </p:nvSpPr>
        <p:spPr>
          <a:xfrm>
            <a:off x="1056983" y="134293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16192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Что тестировалось и как. Статистика по тестам.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619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К примеру:</a:t>
            </a:r>
            <a:endParaRPr/>
          </a:p>
          <a:p>
            <a:pPr indent="-1619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Юнит-тестирование:</a:t>
            </a:r>
            <a:endParaRPr/>
          </a:p>
          <a:p>
            <a:pPr indent="-185738" lvl="1" marL="685800" rtl="0" algn="l"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ru-RU"/>
              <a:t>test_pathfinding.py: корректность пути на картах с лабиринтами, тупиками, прямой видимостью.</a:t>
            </a:r>
            <a:endParaRPr/>
          </a:p>
          <a:p>
            <a:pPr indent="-185738" lvl="1" marL="685800" rtl="0" algn="l"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ru-RU"/>
              <a:t>test_collision.py: пересечение AABB, отсутствие ложных срабатываний, урона.</a:t>
            </a:r>
            <a:endParaRPr/>
          </a:p>
          <a:p>
            <a:pPr indent="-185738" lvl="1" marL="685800" rtl="0" algn="l"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ru-RU"/>
              <a:t>test_save_system.py: сериализация/десериализация, валидация топ-5, обработка битых файлов.</a:t>
            </a:r>
            <a:endParaRPr/>
          </a:p>
          <a:p>
            <a:pPr indent="-185738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t/>
            </a:r>
            <a:endParaRPr/>
          </a:p>
          <a:p>
            <a:pPr indent="-1619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Интеграционные тесты: </a:t>
            </a:r>
            <a:endParaRPr/>
          </a:p>
          <a:p>
            <a:pPr indent="-185738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ru-RU"/>
              <a:t>HP &lt;= 0 -&gt; Game Over -&gt; Score записан -&gt; Меню рекордов обновлено.</a:t>
            </a:r>
            <a:endParaRPr/>
          </a:p>
          <a:p>
            <a:pPr indent="-185738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ru-RU"/>
              <a:t>Игрок проходит в дверь -&gt; WaveManager завершает волну -&gt; StateManager загружает Level 2.</a:t>
            </a:r>
            <a:endParaRPr/>
          </a:p>
          <a:p>
            <a:pPr indent="-185738" lvl="1" marL="685800" rtl="0" algn="l"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ru-RU"/>
              <a:t>Игрок заходит в портал -&gt; WaveManager завершает волну -&gt; StateManager загружает Level 3.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7" name="Google Shape;167;p11"/>
          <p:cNvGraphicFramePr/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>
              <mc:Choice Requires="v">
                <p:oleObj r:id="rId4" imgH="446617" imgW="1282735" progId="CorelDraw.Graphic.22" spid="_x0000_s1">
                  <p:embed/>
                </p:oleObj>
              </mc:Choice>
              <mc:Fallback>
                <p:oleObj r:id="rId5" imgH="446617" imgW="1282735" progId="CorelDraw.Graphic.22">
                  <p:embed/>
                  <p:pic>
                    <p:nvPicPr>
                      <p:cNvPr id="167" name="Google Shape;167;p1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" name="Google Shape;168;p11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795" y="228173"/>
            <a:ext cx="917722" cy="43496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1"/>
          <p:cNvSpPr txBox="1"/>
          <p:nvPr>
            <p:ph type="title"/>
          </p:nvPr>
        </p:nvSpPr>
        <p:spPr>
          <a:xfrm>
            <a:off x="1571517" y="76567"/>
            <a:ext cx="9111712" cy="83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Стек технологий</a:t>
            </a:r>
            <a:endParaRPr/>
          </a:p>
        </p:txBody>
      </p:sp>
      <p:sp>
        <p:nvSpPr>
          <p:cNvPr id="171" name="Google Shape;171;p11"/>
          <p:cNvSpPr txBox="1"/>
          <p:nvPr>
            <p:ph idx="1" type="body"/>
          </p:nvPr>
        </p:nvSpPr>
        <p:spPr>
          <a:xfrm>
            <a:off x="1056983" y="134293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• Язык программирования: Python 3.10+</a:t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• Графический движок: Pygame 2.6.1 (рендеринг, ввод, базовая математика)</a:t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• Интерфейс: Pygame-GUI / кастомные спрайты кнопок</a:t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• Данные: json (стандартная библиотека), os.path, datetime</a:t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• Инструменты разработки: VS Code / PyCharm, black &amp; flake8 (линтинг), pytest, Git</a:t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• Документация Markdown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2019-05-31T06:38:44Z</dcterms:created>
  <dc:creator>Design</dc:creator>
</cp:coreProperties>
</file>